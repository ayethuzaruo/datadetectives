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4" r:id="rId2"/>
    <p:sldId id="256" r:id="rId3"/>
    <p:sldId id="262" r:id="rId4"/>
    <p:sldId id="263" r:id="rId5"/>
    <p:sldId id="257" r:id="rId6"/>
    <p:sldId id="259" r:id="rId7"/>
    <p:sldId id="258" r:id="rId8"/>
    <p:sldId id="265" r:id="rId9"/>
    <p:sldId id="266" r:id="rId10"/>
    <p:sldId id="267" r:id="rId11"/>
    <p:sldId id="268" r:id="rId12"/>
    <p:sldId id="269" r:id="rId13"/>
    <p:sldId id="260" r:id="rId14"/>
    <p:sldId id="26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0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3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DF35C-ADDE-4B49-98DA-091E413506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96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BCBAF6-B819-053A-B8B9-A522309A153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7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6BEA410F-0C1E-01FC-C5AC-1FB8EA0C0B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6942" y="5335268"/>
            <a:ext cx="2705100" cy="5715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5CB8FB5-3B52-497D-6B78-7513D93C9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56" y="1429196"/>
            <a:ext cx="91440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600" b="0" i="0">
                <a:solidFill>
                  <a:srgbClr val="FBE41B"/>
                </a:solidFill>
                <a:latin typeface="Source Sans Pro" panose="020B0503030403020204" pitchFamily="34" charset="0"/>
                <a:ea typeface="Source Serif Pro" panose="0204060305040502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FDD1C97-965D-FC44-0A95-C8D61B00E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156" y="2936005"/>
            <a:ext cx="9144000" cy="781998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Source Sans Pro Light" panose="020B04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2304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" TargetMode="External"/><Relationship Id="rId7" Type="http://schemas.openxmlformats.org/officeDocument/2006/relationships/hyperlink" Target="https://datasetsearch.research.google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datasets" TargetMode="External"/><Relationship Id="rId5" Type="http://schemas.openxmlformats.org/officeDocument/2006/relationships/hyperlink" Target="https://ourworldindata.org/" TargetMode="External"/><Relationship Id="rId4" Type="http://schemas.openxmlformats.org/officeDocument/2006/relationships/hyperlink" Target="https://www.data.gov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BAE6-C103-31D9-E0BC-DDAE91CEB5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Detectives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32C3EE-B424-4225-6282-A506B7B32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2074" y="2754759"/>
            <a:ext cx="9144000" cy="781998"/>
          </a:xfrm>
        </p:spPr>
        <p:txBody>
          <a:bodyPr>
            <a:normAutofit/>
          </a:bodyPr>
          <a:lstStyle/>
          <a:p>
            <a:r>
              <a:rPr lang="en-US" dirty="0"/>
              <a:t>Aye Thuzar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258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to your mind when you hear: Data Detectives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Python (and a little AI help) to uncover the stories hiding in real data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DIKW Pyramid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 to wisdom (Source:  https://</a:t>
            </a:r>
            <a:r>
              <a:rPr lang="en-US" sz="20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en.wikipedia.org</a:t>
            </a:r>
            <a:r>
              <a:rPr lang="en-US" sz="2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/wiki/</a:t>
            </a:r>
            <a:r>
              <a:rPr lang="en-US" sz="20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DIKW_pyramid</a:t>
            </a:r>
            <a:r>
              <a:rPr lang="en-US" sz="2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DIKW Pyramid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737360" y="5120640"/>
            <a:ext cx="8686800" cy="914400"/>
          </a:xfrm>
          <a:prstGeom prst="rect">
            <a:avLst/>
          </a:prstGeom>
          <a:solidFill>
            <a:srgbClr val="C7E0D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37360" y="5120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
</a:t>
            </a:r>
            <a:r>
              <a:rPr lang="en-US" sz="1100" dirty="0">
                <a:solidFill>
                  <a:srgbClr val="3B57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facts and numbers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51760" y="4133088"/>
            <a:ext cx="6858000" cy="914400"/>
          </a:xfrm>
          <a:prstGeom prst="rect">
            <a:avLst/>
          </a:prstGeom>
          <a:solidFill>
            <a:srgbClr val="9FCEB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51760" y="413308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
</a:t>
            </a:r>
            <a:r>
              <a:rPr lang="en-US" sz="1100" dirty="0">
                <a:solidFill>
                  <a:srgbClr val="3B57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with context and 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66160" y="3145536"/>
            <a:ext cx="5029200" cy="914400"/>
          </a:xfrm>
          <a:prstGeom prst="rect">
            <a:avLst/>
          </a:prstGeom>
          <a:solidFill>
            <a:srgbClr val="6EB0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314553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
</a:t>
            </a:r>
            <a:r>
              <a:rPr lang="en-US" sz="1100" dirty="0">
                <a:solidFill>
                  <a:srgbClr val="F2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applied and understood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2157984"/>
            <a:ext cx="3200400" cy="914400"/>
          </a:xfrm>
          <a:prstGeom prst="rect">
            <a:avLst/>
          </a:prstGeom>
          <a:solidFill>
            <a:srgbClr val="3C805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215798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WISDOM
</a:t>
            </a:r>
            <a:r>
              <a:rPr lang="en-US" sz="1100" dirty="0">
                <a:solidFill>
                  <a:srgbClr val="F2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applied with judgment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spreadsheet is hiding a story.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3429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find it today!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Rules for AI-Assisted Coding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60827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80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160827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and predict before you run it.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11703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80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311703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the detective, not the AI.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62579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80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462579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don't understand a line, ask what it does.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710044" y="2926080"/>
            <a:ext cx="2011680" cy="1188720"/>
          </a:xfrm>
          <a:prstGeom prst="rect">
            <a:avLst/>
          </a:prstGeom>
          <a:solidFill>
            <a:srgbClr val="A8CCB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60840" y="2934148"/>
            <a:ext cx="2011680" cy="1188720"/>
          </a:xfrm>
          <a:prstGeom prst="rect">
            <a:avLst/>
          </a:prstGeom>
          <a:solidFill>
            <a:srgbClr val="C7E0D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92560" y="2928769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72520" y="292608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082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04240" y="292608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33022" y="2934148"/>
            <a:ext cx="2011680" cy="1188720"/>
          </a:xfrm>
          <a:prstGeom prst="rect">
            <a:avLst/>
          </a:prstGeom>
          <a:solidFill>
            <a:srgbClr val="6EB0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2428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35960" y="292608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56000" y="2918012"/>
            <a:ext cx="2011680" cy="1188720"/>
          </a:xfrm>
          <a:prstGeom prst="rect">
            <a:avLst/>
          </a:prstGeom>
          <a:solidFill>
            <a:srgbClr val="3C805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51024" y="293414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Chart/Verdict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Your Own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choose from various online data sources such as: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3384" cy="1874520"/>
          </a:xfrm>
          <a:prstGeom prst="rect">
            <a:avLst/>
          </a:prstGeom>
          <a:solidFill>
            <a:srgbClr val="F0F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8424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u="sng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 variety of datasets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7784" y="1783080"/>
            <a:ext cx="3453384" cy="1874520"/>
          </a:xfrm>
          <a:prstGeom prst="rect">
            <a:avLst/>
          </a:prstGeom>
          <a:solidFill>
            <a:srgbClr val="F0F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96384" y="198424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u="sng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data.gov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6384" y="2560320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U.S. government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5488" y="1783080"/>
            <a:ext cx="3453384" cy="1874520"/>
          </a:xfrm>
          <a:prstGeom prst="rect">
            <a:avLst/>
          </a:prstGeom>
          <a:solidFill>
            <a:srgbClr val="F0F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4088" y="198424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u="sng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 World in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4088" y="2560320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development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3453384" cy="1874520"/>
          </a:xfrm>
          <a:prstGeom prst="rect">
            <a:avLst/>
          </a:prstGeom>
          <a:solidFill>
            <a:srgbClr val="F0F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13308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u="sng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datasets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67784" y="3931920"/>
            <a:ext cx="3453384" cy="1874520"/>
          </a:xfrm>
          <a:prstGeom prst="rect">
            <a:avLst/>
          </a:prstGeom>
          <a:solidFill>
            <a:srgbClr val="F0F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96384" y="413308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u="sng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Dataset Search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96384" y="4709160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for datasets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5488" y="3931920"/>
            <a:ext cx="3453384" cy="1874520"/>
          </a:xfrm>
          <a:prstGeom prst="rect">
            <a:avLst/>
          </a:prstGeom>
          <a:solidFill>
            <a:srgbClr val="F0F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24088" y="413308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other source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4088" y="4709160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other reliable data source you find interesting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File Formats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868680" cy="384048"/>
          </a:xfrm>
          <a:prstGeom prst="rect">
            <a:avLst/>
          </a:prstGeom>
          <a:solidFill>
            <a:srgbClr val="3C80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12801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spreadsheet files (most common for Education Dept. data)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69164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i="1" dirty="0">
                <a:solidFill>
                  <a:srgbClr val="3C80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868680" cy="384048"/>
          </a:xfrm>
          <a:prstGeom prst="rect">
            <a:avLst/>
          </a:prstGeom>
          <a:solidFill>
            <a:srgbClr val="C7E0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1945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Comma-separated values (universal format)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868680" cy="384048"/>
          </a:xfrm>
          <a:prstGeom prst="rect">
            <a:avLst/>
          </a:prstGeom>
          <a:solidFill>
            <a:srgbClr val="C7E0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31089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Object Notation (machine-readable)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868680" cy="384048"/>
          </a:xfrm>
          <a:prstGeom prst="rect">
            <a:avLst/>
          </a:prstGeom>
          <a:solidFill>
            <a:srgbClr val="C7E0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40233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Extensible Markup Language (structured data)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868680" cy="384048"/>
          </a:xfrm>
          <a:prstGeom prst="rect">
            <a:avLst/>
          </a:prstGeom>
          <a:solidFill>
            <a:srgbClr val="C7E0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49377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page format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1072" y="1371600"/>
            <a:ext cx="868680" cy="384048"/>
          </a:xfrm>
          <a:prstGeom prst="rect">
            <a:avLst/>
          </a:prstGeom>
          <a:solidFill>
            <a:srgbClr val="C7E0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91072" y="13716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42632" y="12801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text files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91072" y="2286000"/>
            <a:ext cx="868680" cy="384048"/>
          </a:xfrm>
          <a:prstGeom prst="rect">
            <a:avLst/>
          </a:prstGeom>
          <a:solidFill>
            <a:srgbClr val="C7E0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91072" y="22860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42632" y="21945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Description Framework (semantic web data)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91072" y="3200400"/>
            <a:ext cx="868680" cy="384048"/>
          </a:xfrm>
          <a:prstGeom prst="rect">
            <a:avLst/>
          </a:prstGeom>
          <a:solidFill>
            <a:srgbClr val="C7E0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32004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42632" y="31089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Programming Interface (programmatic access)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91072" y="4114800"/>
            <a:ext cx="868680" cy="384048"/>
          </a:xfrm>
          <a:prstGeom prst="rect">
            <a:avLst/>
          </a:prstGeom>
          <a:solidFill>
            <a:srgbClr val="C7E0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91072" y="41148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42632" y="40233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Compressed archive files (mentioned for download)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Kaggle Datasets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945904" y="1416783"/>
            <a:ext cx="4341096" cy="4984016"/>
          </a:xfrm>
          <a:prstGeom prst="rect">
            <a:avLst/>
          </a:prstGeom>
          <a:solidFill>
            <a:srgbClr val="FFFFFF"/>
          </a:solidFill>
          <a:ln w="19050">
            <a:solidFill>
              <a:srgbClr val="C7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2215" y="1646144"/>
            <a:ext cx="4193152" cy="44319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F599838-4851-EE2F-EF0E-A3CDA0271B36}"/>
              </a:ext>
            </a:extLst>
          </p:cNvPr>
          <p:cNvSpPr/>
          <p:nvPr/>
        </p:nvSpPr>
        <p:spPr>
          <a:xfrm flipV="1">
            <a:off x="5935295" y="5001275"/>
            <a:ext cx="4341095" cy="6400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09B6FD78-1BA3-A592-03E6-8F3CA2782BB1}"/>
              </a:ext>
            </a:extLst>
          </p:cNvPr>
          <p:cNvSpPr/>
          <p:nvPr/>
        </p:nvSpPr>
        <p:spPr>
          <a:xfrm>
            <a:off x="1220362" y="1416782"/>
            <a:ext cx="3835731" cy="4984017"/>
          </a:xfrm>
          <a:prstGeom prst="rect">
            <a:avLst/>
          </a:prstGeom>
          <a:solidFill>
            <a:srgbClr val="FFFFFF"/>
          </a:solidFill>
          <a:ln w="19050">
            <a:solidFill>
              <a:srgbClr val="C7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5C21A3-4656-9366-B2E7-B9E2E75F8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792" y="1476352"/>
            <a:ext cx="3017420" cy="4841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the Downloaded .csv Files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84936" y="1664208"/>
            <a:ext cx="10021824" cy="4006902"/>
          </a:xfrm>
          <a:prstGeom prst="rect">
            <a:avLst/>
          </a:prstGeom>
          <a:solidFill>
            <a:srgbClr val="FFFFFF"/>
          </a:solidFill>
          <a:ln w="19050">
            <a:solidFill>
              <a:srgbClr val="C7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work/assets/csv_file_l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8" y="1737360"/>
            <a:ext cx="9875520" cy="38605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Types in Pandas DataFrame Columns or Series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527048"/>
            <a:ext cx="4767251" cy="3392424"/>
          </a:xfrm>
          <a:prstGeom prst="rect">
            <a:avLst/>
          </a:prstGeom>
          <a:solidFill>
            <a:srgbClr val="FFFFFF"/>
          </a:solidFill>
          <a:ln w="19050">
            <a:solidFill>
              <a:srgbClr val="C7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work/assets/pandas_d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4620947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8227" y="1600200"/>
            <a:ext cx="5833388" cy="1554480"/>
          </a:xfrm>
          <a:prstGeom prst="rect">
            <a:avLst/>
          </a:prstGeom>
          <a:solidFill>
            <a:srgbClr val="F0F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6827" y="1764792"/>
            <a:ext cx="53761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6827" y="2167128"/>
            <a:ext cx="53761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only hold one data type (homogeneous), but it can be “object” if it has mixed types.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718227" y="3429000"/>
            <a:ext cx="5833388" cy="1554480"/>
          </a:xfrm>
          <a:prstGeom prst="rect">
            <a:avLst/>
          </a:prstGeom>
          <a:solidFill>
            <a:srgbClr val="F2F9F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6827" y="3593592"/>
            <a:ext cx="53761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DataFrame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6827" y="3995928"/>
            <a:ext cx="53761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have different types in different columns (heterogeneous).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Case Files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2606040" cy="2377440"/>
          </a:xfrm>
          <a:prstGeom prst="rect">
            <a:avLst/>
          </a:prstGeom>
          <a:solidFill>
            <a:srgbClr val="F0F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Pokémon Stats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type is strongest?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20440" y="2103120"/>
            <a:ext cx="2606040" cy="2377440"/>
          </a:xfrm>
          <a:prstGeom prst="rect">
            <a:avLst/>
          </a:prstGeom>
          <a:solidFill>
            <a:srgbClr val="F0F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0332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Netflix Titles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03320" y="31089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changed over time?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103120"/>
            <a:ext cx="2606040" cy="2377440"/>
          </a:xfrm>
          <a:prstGeom prst="rect">
            <a:avLst/>
          </a:prstGeom>
          <a:solidFill>
            <a:srgbClr val="F0F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Happiness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31089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money buy happiness?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81160" y="2103120"/>
            <a:ext cx="2606040" cy="2377440"/>
          </a:xfrm>
          <a:prstGeom prst="rect">
            <a:avLst/>
          </a:prstGeom>
          <a:solidFill>
            <a:srgbClr val="F0F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6404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Spotify Tracks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464040" y="31089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song a hit?</a:t>
            </a:r>
            <a:endParaRPr lang="en-US" sz="13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99AF7DF2-3608-E6A9-5C4D-B5E13C73250E}"/>
              </a:ext>
            </a:extLst>
          </p:cNvPr>
          <p:cNvSpPr/>
          <p:nvPr/>
        </p:nvSpPr>
        <p:spPr>
          <a:xfrm>
            <a:off x="2259106" y="4617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Please work with a partner. You are welcome to explore other topics.</a:t>
            </a:r>
            <a:endParaRPr lang="en-US" sz="2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7EA71569-0289-4490-66BD-1832539829D4}"/>
              </a:ext>
            </a:extLst>
          </p:cNvPr>
          <p:cNvSpPr/>
          <p:nvPr/>
        </p:nvSpPr>
        <p:spPr>
          <a:xfrm>
            <a:off x="3520440" y="5440680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https://</a:t>
            </a:r>
            <a:r>
              <a:rPr lang="en-US" sz="2200" dirty="0" err="1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ayethuzaruo.github.io</a:t>
            </a:r>
            <a:r>
              <a:rPr lang="en-US" sz="2200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2200" dirty="0" err="1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DataDetectives</a:t>
            </a:r>
            <a:r>
              <a:rPr lang="en-US" sz="2200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one line of code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1F4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now explain?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409</Words>
  <Application>Microsoft Macintosh PowerPoint</Application>
  <PresentationFormat>Widescreen</PresentationFormat>
  <Paragraphs>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Georgia</vt:lpstr>
      <vt:lpstr>Source Sans Pro</vt:lpstr>
      <vt:lpstr>Source Sans Pro Light</vt:lpstr>
      <vt:lpstr>Office Theme</vt:lpstr>
      <vt:lpstr>Data Detectives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Thuzar, Aye</cp:lastModifiedBy>
  <cp:revision>13</cp:revision>
  <dcterms:created xsi:type="dcterms:W3CDTF">2026-07-20T05:41:30Z</dcterms:created>
  <dcterms:modified xsi:type="dcterms:W3CDTF">2026-07-20T19:46:13Z</dcterms:modified>
</cp:coreProperties>
</file>